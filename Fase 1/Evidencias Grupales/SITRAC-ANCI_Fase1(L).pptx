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70" r:id="rId9"/>
    <p:sldId id="266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362EB-3160-DBC9-A3F9-679893E91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29E88C-1F44-D723-BD4D-C064A1818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16815A-B608-8FBF-143C-26F0B8DD7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2FFA-DCEC-7D70-D0E1-D06910B6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242C8F-C7DF-1DAD-32E1-A83CE6BB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150254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FF5E2-C245-9593-C30A-369EC3D5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75BEAC-8B79-5C05-4E18-98060C27C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3F217-DB6B-AFC0-F938-47773569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44160-5A52-22C6-718B-401F2348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FFDA15-CA69-ED85-5863-C2CFB29B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410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F0E24-49EE-425D-7386-8F675E01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D50E4C-E7E4-F342-4FB8-CB9FFB6D5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7804F6-CAE4-371F-796F-CD64E1AF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79531D-4332-1D0E-320E-48D8F0CD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04EBCB-972C-C137-A5DA-6CE2C733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553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DFA9D-C11F-D359-AB6D-7D759175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34D81C-1E29-BF72-82E1-438DB7ABA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D5296-3EDF-DEB6-D7CB-AA0CD86A7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A93953-337A-A9D6-1AFD-4F6C8D0F7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A8E6AE-DA0D-8D67-DB48-4BA94A76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94279E-3754-C8A8-7AC3-D119A325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36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68F26-6463-4BD7-09F9-62557C7BF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92330F-58C1-AB6F-EA2C-55A8D146A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8BD751-05CB-0A66-F7ED-7BD97E1BD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7BF423-2857-7B0D-E22B-EB8D172FA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7B818DD-D1C5-41D5-69F9-67AE2CBAD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9F4620-4245-7692-E236-ECDAF795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6C4FF7-09D7-F400-AD82-808B8088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E935F16-0A26-B34E-1148-96612BCF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783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004E26-9B87-9968-D021-FFAD9BC6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A7C9B3-7B55-689B-B3B8-71841AE4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F6A382-BE45-0660-8DA8-00C43C9C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C7F661-2875-3A3C-37DE-88B0C9B8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961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51AF13-2936-8427-61D0-7C6ACFE88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D562D3-ADB7-6633-987E-8B55EA865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01C8C3-A499-471C-CB50-C567098D8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1110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CFBA8-DB7F-C116-C565-FAD3D164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351482-EBCF-F777-2ECF-C8D12C1BB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BD16F1-47AD-1F0B-53AC-0D5A81349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B2C274-09C7-0ADB-0BAB-2F21C434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88EC68-8070-CE1C-1D26-45B9B9C2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B89EB0-05DC-773F-5F15-A8657436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61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3965A-89E8-D23D-1777-34E0BC86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1B5F31-1115-5F4B-AE18-60B36F897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7ED066-6075-DD0A-2CC2-C0F61ADBE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3828FB-B4AE-AACB-7851-F01F7426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2765A2-B439-F03C-53B1-5592F40A5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D237E9-75B3-DE18-5A01-32C57992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606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60F493-5876-CB3F-686C-B6CB0834F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B6C517-B8A2-DEC1-FAAC-018AE1AE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D212E6-FE09-2C84-5C83-CADC43ABC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504A5B-D16F-0F6A-D5D6-1C74D723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681D26-0C5F-2E72-4A01-06F6DCC6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6754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4CAA75-D4EB-17D7-CB8C-F37D865FB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86AE06-B9A8-20A7-CBFD-A0E7E8DC0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92500-62A3-D137-44CE-2C8C5ED8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481B64-8B9E-DB77-1E28-64800CB54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7C2180-5B70-4ACC-292C-CCB08F00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070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2655D44-D517-E6D1-D54F-35CCCE46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88D0F0-A97B-6001-EDB2-B72B095FB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00EFD9-374A-EF59-D600-67959D945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31-08-2026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A6FE59-EE40-4473-6304-95E3B5AEC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58D31D-9286-89FC-5840-56715D139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27495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“SITRAC-ANCI”</a:t>
            </a:r>
          </a:p>
          <a:p>
            <a:pPr algn="ctr"/>
            <a:r>
              <a:rPr lang="es-MX" sz="2400" dirty="0"/>
              <a:t>FASE 1 · EXPOSICIÓN IDEA DE PROYECTO</a:t>
            </a:r>
            <a:endParaRPr lang="es-CL" sz="2400" dirty="0"/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Sistema de Trazabilidad y Notificación Automática de Incidentes de Ciberseguridad a la ANCI</a:t>
            </a:r>
          </a:p>
          <a:p>
            <a:pPr algn="ctr"/>
            <a:r>
              <a:rPr lang="es-MX" sz="1400" dirty="0">
                <a:solidFill>
                  <a:schemeClr val="bg2">
                    <a:lumMod val="50000"/>
                  </a:schemeClr>
                </a:solidFill>
              </a:rPr>
              <a:t>Rodrigo Ayala López · Benjamín Soto Aguilar  —  Mandante: UltraPort  ·  Docente guía: Maria Ignacia Cobo</a:t>
            </a:r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D1F1F76-E0A5-0CAF-94CB-9802F032B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37" y="1249968"/>
            <a:ext cx="6370781" cy="14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Tarjeta Integrante 1"/>
          <p:cNvSpPr/>
          <p:nvPr/>
        </p:nvSpPr>
        <p:spPr>
          <a:xfrm>
            <a:off x="4121026" y="1710819"/>
            <a:ext cx="7633494" cy="2025277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274638" tIns="91440" rIns="274638" bIns="91440" rtlCol="0" anchor="ctr">
            <a:normAutofit/>
          </a:bodyPr>
          <a:lstStyle/>
          <a:p>
            <a:pPr algn="l"/>
            <a:r>
              <a:rPr lang="es-CL" sz="2200" b="1" dirty="0">
                <a:solidFill>
                  <a:schemeClr val="bg1"/>
                </a:solidFill>
              </a:rPr>
              <a:t>Rodrigo Ayala López</a:t>
            </a:r>
          </a:p>
          <a:p>
            <a:pPr algn="l"/>
            <a:r>
              <a:rPr lang="es-CL" sz="1500" b="1" dirty="0">
                <a:solidFill>
                  <a:schemeClr val="bg1"/>
                </a:solidFill>
              </a:rPr>
              <a:t>Cargo: </a:t>
            </a:r>
            <a:r>
              <a:rPr lang="es-CL" sz="1500" dirty="0">
                <a:solidFill>
                  <a:schemeClr val="bg1"/>
                </a:solidFill>
              </a:rPr>
              <a:t>Gestión de Proyecto y Cumplimiento Normativo</a:t>
            </a:r>
          </a:p>
          <a:p>
            <a:pPr algn="l"/>
            <a:r>
              <a:rPr lang="es-CL" sz="1500" b="1" dirty="0">
                <a:solidFill>
                  <a:schemeClr val="bg1"/>
                </a:solidFill>
              </a:rPr>
              <a:t>Funciones desempeñadas: </a:t>
            </a:r>
            <a:r>
              <a:rPr lang="es-CL" sz="1500" dirty="0">
                <a:solidFill>
                  <a:schemeClr val="bg1"/>
                </a:solidFill>
              </a:rPr>
              <a:t>Gestión del Backlog, seguimiento de la normativa (Ley N° 21.663), coordinación con UltraPort y facilitación de Sprints.</a:t>
            </a:r>
          </a:p>
        </p:txBody>
      </p:sp>
      <p:sp>
        <p:nvSpPr>
          <p:cNvPr id="102" name="Tarjeta Integrante 2"/>
          <p:cNvSpPr/>
          <p:nvPr/>
        </p:nvSpPr>
        <p:spPr>
          <a:xfrm>
            <a:off x="4121026" y="4036096"/>
            <a:ext cx="7633494" cy="2025277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274638" tIns="91440" rIns="274638" bIns="91440" rtlCol="0" anchor="ctr">
            <a:normAutofit/>
          </a:bodyPr>
          <a:lstStyle/>
          <a:p>
            <a:pPr algn="l"/>
            <a:r>
              <a:rPr lang="es-CL" sz="2200" b="1" dirty="0">
                <a:solidFill>
                  <a:schemeClr val="bg1"/>
                </a:solidFill>
              </a:rPr>
              <a:t>Benjamín Soto Aguilar</a:t>
            </a:r>
          </a:p>
          <a:p>
            <a:pPr algn="l"/>
            <a:r>
              <a:rPr lang="es-CL" sz="1500" b="1" dirty="0">
                <a:solidFill>
                  <a:schemeClr val="bg1"/>
                </a:solidFill>
              </a:rPr>
              <a:t>Cargo: </a:t>
            </a:r>
            <a:r>
              <a:rPr lang="es-CL" sz="1500" dirty="0">
                <a:solidFill>
                  <a:schemeClr val="bg1"/>
                </a:solidFill>
              </a:rPr>
              <a:t>Desarrollo Backend</a:t>
            </a:r>
          </a:p>
          <a:p>
            <a:pPr algn="l"/>
            <a:r>
              <a:rPr lang="es-CL" sz="1500" b="1" dirty="0">
                <a:solidFill>
                  <a:schemeClr val="bg1"/>
                </a:solidFill>
              </a:rPr>
              <a:t>Funciones desempeñadas: </a:t>
            </a:r>
            <a:r>
              <a:rPr lang="es-CL" sz="1500" dirty="0">
                <a:solidFill>
                  <a:schemeClr val="bg1"/>
                </a:solidFill>
              </a:rPr>
              <a:t>Desarrollo del backend de integración (API de INVGATE y temporizadores), arquitectura y pruebas del sistema.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600" dirty="0"/>
              <a:t>UltraPort debe notificar todo incidente de ciberseguridad a la ANCI dentro de un plazo máximo de 3 horas (Ley N° 21.663), pero hoy la detección y el aviso dependen de canales dispersos, sin un mecanismo unificado ni trazable.</a:t>
            </a:r>
            <a:endParaRPr lang="es-CL" sz="1600" dirty="0"/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sz="1600" dirty="0"/>
              <a:t>Un sistema que consume los tickets ya existentes en INVGATE, centraliza la trazabilidad en una base de datos propia y notifica automáticamente al responsable de turno dentro del plazo legal.</a:t>
            </a:r>
            <a:endParaRPr lang="es-CL" sz="16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2880" rIns="182880" rtlCol="0" anchor="ctr">
            <a:normAutofit/>
          </a:bodyPr>
          <a:lstStyle/>
          <a:p>
            <a:pPr algn="ctr"/>
            <a:r>
              <a:rPr lang="es-MX" sz="1800" dirty="0"/>
              <a:t>Automatizar la trazabilidad y notificación de incidentes de ciberseguridad de UltraPort a la ANCI, garantizando el cumplimiento de los plazos establecidos por la Ley N° 21.663.</a:t>
            </a:r>
            <a:endParaRPr lang="es-CL" sz="1800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2880" rIns="182880" rtlCol="0" anchor="ctr">
            <a:normAutofit fontScale="97500"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dirty="0"/>
              <a:t>Consumir y centralizar, vía API de INVGATE, la información de tickets de incidentes de seguridad ya existentes.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dirty="0"/>
              <a:t>Implementar una base de datos propia (SQL Server, migraciones con Evolve) que centralice la trazabilidad.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dirty="0"/>
              <a:t>Notificar automáticamente al responsable de turno dentro de los plazos críticos exigidos por la normativa.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dirty="0"/>
              <a:t>Registrar la evidencia de cada aviso enviado y de la respuesta de la ANCI, incluyendo falsos positivos.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dirty="0"/>
              <a:t>Desplegar y documentar el sistema conforme a los estándares de seguridad de UltraPort.</a:t>
            </a:r>
            <a:endParaRPr lang="es-CL" sz="1300" dirty="0"/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Alcances"/>
          <p:cNvSpPr/>
          <p:nvPr/>
        </p:nvSpPr>
        <p:spPr>
          <a:xfrm>
            <a:off x="714909" y="2300000"/>
            <a:ext cx="5181091" cy="4158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28600" tIns="182880" rIns="228600" rtlCol="0" anchor="t"/>
          <a:lstStyle/>
          <a:p>
            <a:pPr algn="ctr"/>
            <a:r>
              <a:rPr lang="es-MX" sz="2400" u="sng" dirty="0"/>
              <a:t>Alcances</a:t>
            </a:r>
          </a:p>
          <a:p>
            <a:pPr algn="ctr"/>
            <a:endParaRPr lang="es-MX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500" dirty="0"/>
              <a:t>MVP acotado a un flujo específico de trazabilidad y notificación de incidentes a la ANCI, dentro de las 18 semanas de CAPSTONE (10 ago–12 dic 2026).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500" dirty="0"/>
              <a:t>Integración con la API de INVGATE y despliegue en servidores propios de UltraPort, sin exposición a internet.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500" dirty="0"/>
              <a:t>Stack tecnológico ya definido por la organización (SQL Server, .NET Core, Node.js, Angular, autenticación con cuentas Microsoft y librería Evolve para migraciones).</a:t>
            </a:r>
            <a:endParaRPr lang="es-CL" sz="1500" dirty="0"/>
          </a:p>
        </p:txBody>
      </p:sp>
      <p:sp>
        <p:nvSpPr>
          <p:cNvPr id="21" name="Rectángulo Limitaciones"/>
          <p:cNvSpPr/>
          <p:nvPr/>
        </p:nvSpPr>
        <p:spPr>
          <a:xfrm>
            <a:off x="6296000" y="2300000"/>
            <a:ext cx="5181091" cy="4158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28600" tIns="182880" rIns="228600" rtlCol="0" anchor="t"/>
          <a:lstStyle/>
          <a:p>
            <a:pPr algn="ctr"/>
            <a:r>
              <a:rPr lang="es-MX" sz="2400" u="sng" dirty="0"/>
              <a:t>Limitaciones</a:t>
            </a:r>
          </a:p>
          <a:p>
            <a:pPr algn="ctr"/>
            <a:endParaRPr lang="es-MX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500" dirty="0"/>
              <a:t>El propio mandante advirtió que el alcance completo probablemente requiera más de una iteración; se mitiga acotando el MVP a un flujo bien definido.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500" dirty="0"/>
              <a:t>Dependencia de la entrega de bases técnicas de UltraPort (ERS, diagramas de arquitectura), aún pendiente a la fecha.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500" dirty="0"/>
              <a:t>Jornada actual de 2 hrs/día; la migración a jornada de oficina (9:00–17:00) para el desarrollo intensivo aún no está formalizada con UltraPort ni con la coordinación de práctica.</a:t>
            </a:r>
            <a:endParaRPr lang="es-CL" sz="1500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Enfoque"/>
          <p:cNvSpPr/>
          <p:nvPr/>
        </p:nvSpPr>
        <p:spPr>
          <a:xfrm>
            <a:off x="714909" y="2250000"/>
            <a:ext cx="10762182" cy="1450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28600" rIns="228600" rtlCol="0" anchor="ctr"/>
          <a:lstStyle/>
          <a:p>
            <a:r>
              <a:rPr lang="es-MX" sz="1700" b="1" u="sng" dirty="0"/>
              <a:t>Enfoque ágil (Scrum): </a:t>
            </a:r>
            <a:r>
              <a:rPr lang="es-MX" sz="1700" dirty="0"/>
              <a:t>el trabajo se organiza en sprints alineados a las semanas de CAPSTONE: levantamiento y formalización de requisitos (ERS bajo IEEE 830) → diseño de arquitectura y modelo de datos → desarrollo iterativo del backend de integración con INVGATE → pruebas, documentación y presentación final.</a:t>
            </a:r>
          </a:p>
        </p:txBody>
      </p:sp>
      <p:sp>
        <p:nvSpPr>
          <p:cNvPr id="21" name="Rectángulo Justificación"/>
          <p:cNvSpPr/>
          <p:nvPr/>
        </p:nvSpPr>
        <p:spPr>
          <a:xfrm>
            <a:off x="714909" y="3850000"/>
            <a:ext cx="5181091" cy="2650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28600" tIns="182880" rIns="228600" rtlCol="0" anchor="t">
            <a:normAutofit/>
          </a:bodyPr>
          <a:lstStyle/>
          <a:p>
            <a:pPr algn="ctr"/>
            <a:r>
              <a:rPr lang="es-MX" sz="1700" u="sng" dirty="0"/>
              <a:t>Justificación frente a otras metodologías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200" dirty="0"/>
              <a:t>Tradicional / RUP (descartados): exigen alta documentación formal previa, incompatible con requisitos que aún evolucionan en cada reunión con UltraPort.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200" dirty="0"/>
              <a:t>Design Thinking (descartado): orientado a empatía con el usuario final; no aplica a integración backend gobernada por requisitos normativos.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200" dirty="0"/>
              <a:t>Scrum (elegido): incorpora en sprints la información que UltraPort entrega de forma progresiva; el sponsor ya anticipó más de una iteración; el equipo cuenta con certificación SCRUM-ITF.</a:t>
            </a:r>
            <a:endParaRPr lang="es-CL" sz="1200" dirty="0"/>
          </a:p>
        </p:txBody>
      </p:sp>
      <p:sp>
        <p:nvSpPr>
          <p:cNvPr id="22" name="Rectángulo Roles"/>
          <p:cNvSpPr/>
          <p:nvPr/>
        </p:nvSpPr>
        <p:spPr>
          <a:xfrm>
            <a:off x="6296000" y="3850000"/>
            <a:ext cx="5181091" cy="2650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228600" tIns="182880" rIns="228600" rtlCol="0" anchor="t">
            <a:normAutofit/>
          </a:bodyPr>
          <a:lstStyle/>
          <a:p>
            <a:pPr algn="ctr"/>
            <a:r>
              <a:rPr lang="es-MX" sz="1700" u="sng" dirty="0"/>
              <a:t>Roles y responsabilidades del equipo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b="1" dirty="0"/>
              <a:t>Rodrigo: </a:t>
            </a:r>
            <a:r>
              <a:rPr lang="es-MX" sz="1300" dirty="0"/>
              <a:t>gestión de Backlog, normativa (Ley 21.663), coordinación con UltraPort y facilitación de Sprints.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b="1" dirty="0"/>
              <a:t>Benjamín: </a:t>
            </a:r>
            <a:r>
              <a:rPr lang="es-MX" sz="1300" dirty="0"/>
              <a:t>desarrollo backend (API INVGATE y temporizadores).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s-MX" sz="1300" b="1" dirty="0"/>
              <a:t>Ambos: </a:t>
            </a:r>
            <a:r>
              <a:rPr lang="es-MX" sz="1300" dirty="0"/>
              <a:t>flujos de comunicación, arquitectura, pruebas, retrospectivas y presentaciones.</a:t>
            </a:r>
            <a:endParaRPr lang="es-CL" sz="1300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62188"/>
              </p:ext>
            </p:extLst>
          </p:nvPr>
        </p:nvGraphicFramePr>
        <p:xfrm>
          <a:off x="1243810" y="1964741"/>
          <a:ext cx="10235372" cy="4381081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r>
                        <a:rPr sz="1100"/>
                        <a:t>Definición del Product Backlog y ERS de apoyo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r>
                        <a:rPr sz="1100"/>
                        <a:t>Presentación de la definición del proyecto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r>
                        <a:rPr sz="1100"/>
                        <a:t>Sprint 1: parámetros de UltraPort, BD y entorno de trabajo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r>
                        <a:rPr sz="1100"/>
                        <a:t>Sprint 2: backend, API INVGATE y notificaciones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950263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r>
                        <a:rPr sz="1100"/>
                        <a:t>Sprint Review + Informe de avance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12783"/>
                  </a:ext>
                </a:extLst>
              </a:tr>
              <a:tr h="466216">
                <a:tc>
                  <a:txBody>
                    <a:bodyPr/>
                    <a:lstStyle/>
                    <a:p>
                      <a:r>
                        <a:rPr sz="1100"/>
                        <a:t>Pruebas de certificación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608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“SITRAC-ANCI”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Definición del Stack Tecnológico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tack 1"/>
          <p:cNvSpPr/>
          <p:nvPr/>
        </p:nvSpPr>
        <p:spPr>
          <a:xfrm>
            <a:off x="714909" y="2350000"/>
            <a:ext cx="2160000" cy="24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137160" rIns="137160" rtlCol="0" anchor="ctr">
            <a:normAutofit/>
          </a:bodyPr>
          <a:lstStyle/>
          <a:p>
            <a:pPr algn="ctr"/>
            <a:r>
              <a:rPr lang="es-MX" sz="1700" b="1" dirty="0">
                <a:solidFill>
                  <a:schemeClr val="bg1"/>
                </a:solidFill>
              </a:rPr>
              <a:t>.NET Core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</a:rPr>
              <a:t>Backend de integración con INVGATE</a:t>
            </a:r>
          </a:p>
        </p:txBody>
      </p:sp>
      <p:sp>
        <p:nvSpPr>
          <p:cNvPr id="31" name="Stack 2"/>
          <p:cNvSpPr/>
          <p:nvPr/>
        </p:nvSpPr>
        <p:spPr>
          <a:xfrm>
            <a:off x="3025000" y="2350000"/>
            <a:ext cx="2160000" cy="24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137160" rIns="137160" rtlCol="0" anchor="ctr">
            <a:normAutofit/>
          </a:bodyPr>
          <a:lstStyle/>
          <a:p>
            <a:pPr algn="ctr"/>
            <a:r>
              <a:rPr lang="es-MX" sz="1700" b="1" dirty="0">
                <a:solidFill>
                  <a:schemeClr val="bg1"/>
                </a:solidFill>
              </a:rPr>
              <a:t>Node.js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</a:rPr>
              <a:t>Temporizadores y flujos de notificación</a:t>
            </a:r>
          </a:p>
        </p:txBody>
      </p:sp>
      <p:sp>
        <p:nvSpPr>
          <p:cNvPr id="32" name="Stack 3"/>
          <p:cNvSpPr/>
          <p:nvPr/>
        </p:nvSpPr>
        <p:spPr>
          <a:xfrm>
            <a:off x="5335000" y="2350000"/>
            <a:ext cx="2160000" cy="24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137160" rIns="137160" rtlCol="0" anchor="ctr">
            <a:normAutofit/>
          </a:bodyPr>
          <a:lstStyle/>
          <a:p>
            <a:pPr algn="ctr"/>
            <a:r>
              <a:rPr lang="es-MX" sz="1700" b="1" dirty="0">
                <a:solidFill>
                  <a:schemeClr val="bg1"/>
                </a:solidFill>
              </a:rPr>
              <a:t>Angular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</a:rPr>
              <a:t>Panel de trazabilidad y notificaciones</a:t>
            </a:r>
          </a:p>
        </p:txBody>
      </p:sp>
      <p:sp>
        <p:nvSpPr>
          <p:cNvPr id="33" name="Stack 4"/>
          <p:cNvSpPr/>
          <p:nvPr/>
        </p:nvSpPr>
        <p:spPr>
          <a:xfrm>
            <a:off x="7645000" y="2350000"/>
            <a:ext cx="2160000" cy="24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137160" rIns="137160" rtlCol="0" anchor="ctr">
            <a:normAutofit/>
          </a:bodyPr>
          <a:lstStyle/>
          <a:p>
            <a:pPr algn="ctr"/>
            <a:r>
              <a:rPr lang="es-MX" sz="1700" b="1" dirty="0">
                <a:solidFill>
                  <a:schemeClr val="bg1"/>
                </a:solidFill>
              </a:rPr>
              <a:t>SQL Server</a:t>
            </a:r>
          </a:p>
          <a:p>
            <a:pPr algn="ctr"/>
            <a:r>
              <a:rPr lang="es-MX" sz="1200" dirty="0">
                <a:solidFill>
                  <a:schemeClr val="bg1"/>
                </a:solidFill>
              </a:rPr>
              <a:t>Base de datos propia, migraciones con Evolve</a:t>
            </a:r>
          </a:p>
        </p:txBody>
      </p:sp>
      <p:sp>
        <p:nvSpPr>
          <p:cNvPr id="34" name="Stack 5"/>
          <p:cNvSpPr/>
          <p:nvPr/>
        </p:nvSpPr>
        <p:spPr>
          <a:xfrm>
            <a:off x="9955000" y="2350000"/>
            <a:ext cx="1522091" cy="24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</p:spPr>
        <p:txBody>
          <a:bodyPr lIns="91440" rIns="91440" rtlCol="0" anchor="ctr">
            <a:normAutofit/>
          </a:bodyPr>
          <a:lstStyle/>
          <a:p>
            <a:pPr algn="ctr"/>
            <a:r>
              <a:rPr lang="es-MX" sz="1500" b="1" dirty="0">
                <a:solidFill>
                  <a:schemeClr val="bg1"/>
                </a:solidFill>
              </a:rPr>
              <a:t>API INVGATE</a:t>
            </a:r>
          </a:p>
          <a:p>
            <a:pPr algn="ctr"/>
            <a:r>
              <a:rPr lang="es-MX" sz="1100" dirty="0">
                <a:solidFill>
                  <a:schemeClr val="bg1"/>
                </a:solidFill>
              </a:rPr>
              <a:t>Origen de los tickets de incidentes</a:t>
            </a:r>
          </a:p>
        </p:txBody>
      </p:sp>
      <p:sp>
        <p:nvSpPr>
          <p:cNvPr id="35" name="Nota Infraestructura"/>
          <p:cNvSpPr txBox="1"/>
          <p:nvPr/>
        </p:nvSpPr>
        <p:spPr>
          <a:xfrm>
            <a:off x="714909" y="5100000"/>
            <a:ext cx="10762182" cy="92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s-MX" sz="1500" i="1" dirty="0"/>
              <a:t>*Despliegue en servidores propios de UltraPort, sin exposición a internet.</a:t>
            </a:r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23192BB-E2C3-2E48-BACB-6309F4C62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045"/>
            <a:ext cx="12192000" cy="4503221"/>
          </a:xfrm>
          <a:prstGeom prst="rect">
            <a:avLst/>
          </a:prstGeom>
        </p:spPr>
      </p:pic>
      <p:sp>
        <p:nvSpPr>
          <p:cNvPr id="40" name="CuadroTexto Autores"/>
          <p:cNvSpPr txBox="1"/>
          <p:nvPr/>
        </p:nvSpPr>
        <p:spPr>
          <a:xfrm>
            <a:off x="0" y="5476266"/>
            <a:ext cx="12191999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dirty="0">
                <a:solidFill>
                  <a:schemeClr val="bg2">
                    <a:lumMod val="50000"/>
                  </a:schemeClr>
                </a:solidFill>
              </a:rPr>
              <a:t>SITRAC-ANCI  ·  Rodrigo Ayala López  ·  Benjamín Soto Aguilar  ·  UltraPort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-1" y="839004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</TotalTime>
  <Words>875</Words>
  <Application>Microsoft Office PowerPoint</Application>
  <PresentationFormat>Panorámica</PresentationFormat>
  <Paragraphs>104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RODRIGO ALONSO AYALA LOPEZ</cp:lastModifiedBy>
  <cp:revision>6</cp:revision>
  <dcterms:created xsi:type="dcterms:W3CDTF">2023-10-28T21:12:11Z</dcterms:created>
  <dcterms:modified xsi:type="dcterms:W3CDTF">2026-09-01T17:36:17Z</dcterms:modified>
</cp:coreProperties>
</file>